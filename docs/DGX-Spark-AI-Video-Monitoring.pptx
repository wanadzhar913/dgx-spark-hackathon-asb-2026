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E6EDF3"/>
                </a:solidFill>
                <a:latin typeface="Segoe UI"/>
              </a:rPr>
              <a:t>Live AI Video Monitoring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8A97A6"/>
                </a:solidFill>
                <a:latin typeface="Segoe UI"/>
              </a:rPr>
              <a:t>Real-time behavior detection across many camera feeds — on the DGX Spark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840480"/>
            <a:ext cx="2340864" cy="457200"/>
          </a:xfrm>
          <a:prstGeom prst="roundRect">
            <a:avLst/>
          </a:prstGeom>
          <a:solidFill>
            <a:srgbClr val="1A222D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95344"/>
            <a:ext cx="23408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Multi-feed CCTV wall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2424" y="3840480"/>
            <a:ext cx="2130552" cy="457200"/>
          </a:xfrm>
          <a:prstGeom prst="roundRect">
            <a:avLst/>
          </a:prstGeom>
          <a:solidFill>
            <a:srgbClr val="1A222D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92424" y="3895344"/>
            <a:ext cx="2130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AI behavior events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51576" y="3840480"/>
            <a:ext cx="2025395" cy="457200"/>
          </a:xfrm>
          <a:prstGeom prst="roundRect">
            <a:avLst/>
          </a:prstGeom>
          <a:solidFill>
            <a:srgbClr val="1A222D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51576" y="3895344"/>
            <a:ext cx="20253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Runs on DGX Spark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8A97A6"/>
                </a:solidFill>
                <a:latin typeface="Segoe UI"/>
              </a:rPr>
              <a:t>DGX Spark Hackathon · ASB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728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6EDF3"/>
                </a:solidFill>
                <a:latin typeface="Segoe UI"/>
              </a:rPr>
              <a:t>Watching feeds doesn't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10424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E6EDF3"/>
                </a:solidFill>
                <a:latin typeface="Segoe UI"/>
              </a:rPr>
              <a:t>•  Security teams stare at walls of camera feeds — attention fades, incidents are missed.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E6EDF3"/>
                </a:solidFill>
                <a:latin typeface="Segoe UI"/>
              </a:rPr>
              <a:t>•  Anti-social behavior (loitering, vandalism, fights, intrusion) is easy to miss in real time.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E6EDF3"/>
                </a:solidFill>
                <a:latin typeface="Segoe UI"/>
              </a:rPr>
              <a:t>•  Cloud video AI means streaming sensitive footage off-site: cost, latency, privacy risk.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E6EDF3"/>
                </a:solidFill>
                <a:latin typeface="Segoe UI"/>
              </a:rPr>
              <a:t>•  Operators need the crucial moments surfaced, not hours of raw video.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728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An AI monitoring wall that flags what matters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2606040" cy="3108960"/>
          </a:xfrm>
          <a:prstGeom prst="roundRect">
            <a:avLst/>
          </a:prstGeom>
          <a:solidFill>
            <a:srgbClr val="121820"/>
          </a:solidFill>
          <a:ln w="12700">
            <a:solidFill>
              <a:srgbClr val="1A2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" y="2468880"/>
            <a:ext cx="548640" cy="10972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6EDF3"/>
                </a:solidFill>
                <a:latin typeface="Segoe UI"/>
              </a:rPr>
              <a:t>Multi-feed wall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383280"/>
            <a:ext cx="21945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8A97A6"/>
                </a:solidFill>
                <a:latin typeface="Segoe UI"/>
              </a:rPr>
              <a:t>Up to 9 live camera feeds in one grid, looping or live.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194560"/>
            <a:ext cx="2606040" cy="3108960"/>
          </a:xfrm>
          <a:prstGeom prst="roundRect">
            <a:avLst/>
          </a:prstGeom>
          <a:solidFill>
            <a:srgbClr val="121820"/>
          </a:solidFill>
          <a:ln w="12700">
            <a:solidFill>
              <a:srgbClr val="1A2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94760" y="2468880"/>
            <a:ext cx="54864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269748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6EDF3"/>
                </a:solidFill>
                <a:latin typeface="Segoe UI"/>
              </a:rPr>
              <a:t>AI behavior 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383280"/>
            <a:ext cx="21945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8A97A6"/>
                </a:solidFill>
                <a:latin typeface="Segoe UI"/>
              </a:rPr>
              <a:t>A local vision model watches a configurable watchlist and raises events.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194560"/>
            <a:ext cx="2606040" cy="3108960"/>
          </a:xfrm>
          <a:prstGeom prst="roundRect">
            <a:avLst/>
          </a:prstGeom>
          <a:solidFill>
            <a:srgbClr val="121820"/>
          </a:solidFill>
          <a:ln w="12700">
            <a:solidFill>
              <a:srgbClr val="1A2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2468880"/>
            <a:ext cx="548640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69748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6EDF3"/>
                </a:solidFill>
                <a:latin typeface="Segoe UI"/>
              </a:rPr>
              <a:t>Crucial info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383280"/>
            <a:ext cx="21945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8A97A6"/>
                </a:solidFill>
                <a:latin typeface="Segoe UI"/>
              </a:rPr>
              <a:t>Each event: camera, time, type, confidence, severity + plain-language description.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2194560"/>
            <a:ext cx="2606040" cy="3108960"/>
          </a:xfrm>
          <a:prstGeom prst="roundRect">
            <a:avLst/>
          </a:prstGeom>
          <a:solidFill>
            <a:srgbClr val="121820"/>
          </a:solidFill>
          <a:ln w="12700">
            <a:solidFill>
              <a:srgbClr val="1A2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81160" y="2468880"/>
            <a:ext cx="548640" cy="10972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269748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6EDF3"/>
                </a:solidFill>
                <a:latin typeface="Segoe UI"/>
              </a:rPr>
              <a:t>Snapshot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3383280"/>
            <a:ext cx="21945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8A97A6"/>
                </a:solidFill>
                <a:latin typeface="Segoe UI"/>
              </a:rPr>
              <a:t>A thumbnail of the exact frame where each event happened.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728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THE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One screen: wall, events,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10652760" cy="4480560"/>
          </a:xfrm>
          <a:prstGeom prst="rect">
            <a:avLst/>
          </a:prstGeom>
          <a:solidFill>
            <a:srgbClr val="121820"/>
          </a:solidFill>
          <a:ln w="12700">
            <a:solidFill>
              <a:srgbClr val="1A2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65960"/>
            <a:ext cx="10469880" cy="45478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728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A streaming pipeline, GPU-ready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2377440" cy="1737360"/>
          </a:xfrm>
          <a:prstGeom prst="roundRect">
            <a:avLst/>
          </a:prstGeom>
          <a:solidFill>
            <a:srgbClr val="121820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2057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6EDF3"/>
                </a:solidFill>
                <a:latin typeface="Segoe UI"/>
              </a:rPr>
              <a:t>Feeds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2057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8A97A6"/>
                </a:solidFill>
                <a:latin typeface="Segoe UI"/>
              </a:rPr>
              <a:t>Video files / cameras, looped per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8688" y="297180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8A97A6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468880"/>
            <a:ext cx="2377440" cy="1737360"/>
          </a:xfrm>
          <a:prstGeom prst="roundRect">
            <a:avLst/>
          </a:prstGeom>
          <a:solidFill>
            <a:srgbClr val="121820"/>
          </a:solidFill>
          <a:ln w="1587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2651760"/>
            <a:ext cx="2057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6EDF3"/>
                </a:solidFill>
                <a:latin typeface="Segoe UI"/>
              </a:rPr>
              <a:t>Frame batcher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200400"/>
            <a:ext cx="2057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8A97A6"/>
                </a:solidFill>
                <a:latin typeface="Segoe UI"/>
              </a:rPr>
              <a:t>Short clips sampled for temporal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888" y="297180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8A97A6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468880"/>
            <a:ext cx="2377440" cy="1737360"/>
          </a:xfrm>
          <a:prstGeom prst="roundRect">
            <a:avLst/>
          </a:prstGeom>
          <a:solidFill>
            <a:srgbClr val="121820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651760"/>
            <a:ext cx="2057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6EDF3"/>
                </a:solidFill>
                <a:latin typeface="Segoe UI"/>
              </a:rPr>
              <a:t>Omni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200400"/>
            <a:ext cx="2057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8A97A6"/>
                </a:solidFill>
                <a:latin typeface="Segoe UI"/>
              </a:rPr>
              <a:t>Local VLM scores the watchlist (DGX Spark GPU)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297180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8A97A6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2468880"/>
            <a:ext cx="2377440" cy="1737360"/>
          </a:xfrm>
          <a:prstGeom prst="roundRect">
            <a:avLst/>
          </a:prstGeom>
          <a:solidFill>
            <a:srgbClr val="121820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2651760"/>
            <a:ext cx="2057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6EDF3"/>
                </a:solidFill>
                <a:latin typeface="Segoe UI"/>
              </a:rPr>
              <a:t>Events +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200400"/>
            <a:ext cx="2057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8A97A6"/>
                </a:solidFill>
                <a:latin typeface="Segoe UI"/>
              </a:rPr>
              <a:t>Live list, snapshots, WebSocket push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663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8BDF8"/>
                </a:solidFill>
                <a:latin typeface="Segoe UI"/>
              </a:rPr>
              <a:t>Key design: </a:t>
            </a:r>
            <a:r>
              <a:rPr sz="1500" b="0">
                <a:solidFill>
                  <a:srgbClr val="E6EDF3"/>
                </a:solidFill>
                <a:latin typeface="Segoe UI"/>
              </a:rPr>
              <a:t>video playback never blocks on the model. Analysis runs on worker threads; stale work is dropped under load, so the wall stays smooth while the GPU does the heavy lifting.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728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WHY DGX SPARK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Edge AI, on-prem, private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10424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E6EDF3"/>
                </a:solidFill>
                <a:latin typeface="Segoe UI"/>
              </a:rPr>
              <a:t>•  Runs the vision model locally — footage never leaves the premises.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E6EDF3"/>
                </a:solidFill>
                <a:latin typeface="Segoe UI"/>
              </a:rPr>
              <a:t>•  GPU throughput handles multiple feeds with low latency, no cloud bills.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E6EDF3"/>
                </a:solidFill>
                <a:latin typeface="Segoe UI"/>
              </a:rPr>
              <a:t>•  Swappable model adapter: plug in your 'omni' model via an OpenAI-compatible endpoint.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E6EDF3"/>
                </a:solidFill>
                <a:latin typeface="Segoe UI"/>
              </a:rPr>
              <a:t>•  Config-driven: define feeds and the behavior watchlist in a single YAML 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728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TECH &amp;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6EDF3"/>
                </a:solidFill>
                <a:latin typeface="Segoe UI"/>
              </a:rPr>
              <a:t>Built and working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120640" cy="3931920"/>
          </a:xfrm>
          <a:prstGeom prst="roundRect">
            <a:avLst/>
          </a:prstGeom>
          <a:solidFill>
            <a:srgbClr val="121820"/>
          </a:solidFill>
          <a:ln w="12700">
            <a:solidFill>
              <a:srgbClr val="1A2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38BDF8"/>
                </a:solidFill>
                <a:latin typeface="Segoe UI"/>
              </a:rPr>
              <a:t>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50">
                <a:solidFill>
                  <a:srgbClr val="E6EDF3"/>
                </a:solidFill>
                <a:latin typeface="Segoe UI"/>
              </a:rPr>
              <a:t>•  FastAPI backend (Python)</a:t>
            </a:r>
          </a:p>
          <a:p>
            <a:pPr>
              <a:spcAft>
                <a:spcPts val="1100"/>
              </a:spcAft>
            </a:pPr>
            <a:r>
              <a:rPr sz="1450">
                <a:solidFill>
                  <a:srgbClr val="E6EDF3"/>
                </a:solidFill>
                <a:latin typeface="Segoe UI"/>
              </a:rPr>
              <a:t>•  OpenCV feed looping + MJPEG / frame polling</a:t>
            </a:r>
          </a:p>
          <a:p>
            <a:pPr>
              <a:spcAft>
                <a:spcPts val="1100"/>
              </a:spcAft>
            </a:pPr>
            <a:r>
              <a:rPr sz="1450">
                <a:solidFill>
                  <a:srgbClr val="E6EDF3"/>
                </a:solidFill>
                <a:latin typeface="Segoe UI"/>
              </a:rPr>
              <a:t>•  WebSocket live event push, in-memory store</a:t>
            </a:r>
          </a:p>
          <a:p>
            <a:pPr>
              <a:spcAft>
                <a:spcPts val="1100"/>
              </a:spcAft>
            </a:pPr>
            <a:r>
              <a:rPr sz="1450">
                <a:solidFill>
                  <a:srgbClr val="E6EDF3"/>
                </a:solidFill>
                <a:latin typeface="Segoe UI"/>
              </a:rPr>
              <a:t>•  Single static HTML dashboard — no build step</a:t>
            </a:r>
          </a:p>
          <a:p>
            <a:pPr>
              <a:spcAft>
                <a:spcPts val="1100"/>
              </a:spcAft>
            </a:pPr>
            <a:r>
              <a:rPr sz="1450">
                <a:solidFill>
                  <a:srgbClr val="E6EDF3"/>
                </a:solidFill>
                <a:latin typeface="Segoe UI"/>
              </a:rPr>
              <a:t>•  Swappable omni-model adapter (mock + OpenAI-compatible)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120640" cy="3931920"/>
          </a:xfrm>
          <a:prstGeom prst="roundRect">
            <a:avLst/>
          </a:prstGeom>
          <a:solidFill>
            <a:srgbClr val="121820"/>
          </a:solidFill>
          <a:ln w="12700">
            <a:solidFill>
              <a:srgbClr val="1A2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76B900"/>
                </a:solidFill>
                <a:latin typeface="Segoe UI"/>
              </a:rPr>
              <a:t>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8892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50">
                <a:solidFill>
                  <a:srgbClr val="E6EDF3"/>
                </a:solidFill>
                <a:latin typeface="Segoe UI"/>
              </a:rPr>
              <a:t>•  6 live feeds running on the wall</a:t>
            </a:r>
          </a:p>
          <a:p>
            <a:pPr>
              <a:spcAft>
                <a:spcPts val="1100"/>
              </a:spcAft>
            </a:pPr>
            <a:r>
              <a:rPr sz="1450">
                <a:solidFill>
                  <a:srgbClr val="E6EDF3"/>
                </a:solidFill>
                <a:latin typeface="Segoe UI"/>
              </a:rPr>
              <a:t>•  Events + snapshots flowing end-to-end</a:t>
            </a:r>
          </a:p>
          <a:p>
            <a:pPr>
              <a:spcAft>
                <a:spcPts val="1100"/>
              </a:spcAft>
            </a:pPr>
            <a:r>
              <a:rPr sz="1450">
                <a:solidFill>
                  <a:srgbClr val="E6EDF3"/>
                </a:solidFill>
                <a:latin typeface="Segoe UI"/>
              </a:rPr>
              <a:t>•  33 automated tests passing</a:t>
            </a:r>
          </a:p>
          <a:p>
            <a:pPr>
              <a:spcAft>
                <a:spcPts val="1100"/>
              </a:spcAft>
            </a:pPr>
            <a:r>
              <a:rPr sz="1450">
                <a:solidFill>
                  <a:srgbClr val="E6EDF3"/>
                </a:solidFill>
                <a:latin typeface="Segoe UI"/>
              </a:rPr>
              <a:t>•  DGX Spark run guide in the README</a:t>
            </a:r>
          </a:p>
          <a:p>
            <a:pPr>
              <a:spcAft>
                <a:spcPts val="1100"/>
              </a:spcAft>
            </a:pPr>
            <a:r>
              <a:rPr sz="1450">
                <a:solidFill>
                  <a:srgbClr val="E6EDF3"/>
                </a:solidFill>
                <a:latin typeface="Segoe UI"/>
              </a:rPr>
              <a:t>•  Next: wire in the production omni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E6EDF3"/>
                </a:solidFill>
                <a:latin typeface="Segoe UI"/>
              </a:rPr>
              <a:t>See the crucial moments. Instantly.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8A97A6"/>
                </a:solidFill>
                <a:latin typeface="Segoe UI"/>
              </a:rPr>
              <a:t>Private, on-prem AI video monitoring on the DGX Spark.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github.com/wanadzhar913/DGX-Spark-Hackathon-ASB-2026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